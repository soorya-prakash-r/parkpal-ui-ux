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7"/>
  </p:notesMasterIdLst>
  <p:sldIdLst>
    <p:sldId id="264" r:id="rId2"/>
    <p:sldId id="263" r:id="rId3"/>
    <p:sldId id="259" r:id="rId4"/>
    <p:sldId id="265" r:id="rId5"/>
    <p:sldId id="266" r:id="rId6"/>
  </p:sldIdLst>
  <p:sldSz cx="9144000" cy="5143500" type="screen16x9"/>
  <p:notesSz cx="6858000" cy="9144000"/>
  <p:embeddedFontLst>
    <p:embeddedFont>
      <p:font typeface="Lato" panose="020F0502020204030203" pitchFamily="34" charset="0"/>
      <p:regular r:id="rId8"/>
      <p:bold r:id="rId9"/>
      <p:italic r:id="rId10"/>
      <p:boldItalic r:id="rId11"/>
    </p:embeddedFont>
    <p:embeddedFont>
      <p:font typeface="Lexend ExtraBold" panose="020B0604020202020204" charset="0"/>
      <p:bold r:id="rId12"/>
    </p:embeddedFont>
    <p:embeddedFont>
      <p:font typeface="Montserrat" panose="00000500000000000000" pitchFamily="2" charset="0"/>
      <p:regular r:id="rId13"/>
      <p:bold r:id="rId14"/>
      <p:italic r:id="rId15"/>
      <p:boldItalic r:id="rId16"/>
    </p:embeddedFont>
    <p:embeddedFont>
      <p:font typeface="Oswald" panose="00000500000000000000" pitchFamily="2" charset="0"/>
      <p:regular r:id="rId17"/>
      <p:bold r:id="rId18"/>
    </p:embeddedFon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101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presProps" Target="presProp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D8902087-CA92-E12D-1A94-12587F7A563F}"/>
            </a:ext>
          </a:extLst>
        </p:cNvPr>
        <p:cNvGrpSpPr/>
        <p:nvPr/>
      </p:nvGrpSpPr>
      <p:grpSpPr>
        <a:xfrm>
          <a:off x="0" y="0"/>
          <a:ext cx="0" cy="0"/>
          <a:chOff x="0" y="0"/>
          <a:chExt cx="0" cy="0"/>
        </a:xfrm>
      </p:grpSpPr>
      <p:sp>
        <p:nvSpPr>
          <p:cNvPr id="245" name="Google Shape;245;g1f87997393_0_821:notes">
            <a:extLst>
              <a:ext uri="{FF2B5EF4-FFF2-40B4-BE49-F238E27FC236}">
                <a16:creationId xmlns:a16="http://schemas.microsoft.com/office/drawing/2014/main" id="{F235DEE2-00A3-4DAD-687D-A07254E6B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f87997393_0_821:notes">
            <a:extLst>
              <a:ext uri="{FF2B5EF4-FFF2-40B4-BE49-F238E27FC236}">
                <a16:creationId xmlns:a16="http://schemas.microsoft.com/office/drawing/2014/main" id="{87E95DCF-F04A-1FB6-8EFF-2B90B940AF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8452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9FC60399-86C0-A35B-ED0E-C7165A2B0CE7}"/>
            </a:ext>
          </a:extLst>
        </p:cNvPr>
        <p:cNvGrpSpPr/>
        <p:nvPr/>
      </p:nvGrpSpPr>
      <p:grpSpPr>
        <a:xfrm>
          <a:off x="0" y="0"/>
          <a:ext cx="0" cy="0"/>
          <a:chOff x="0" y="0"/>
          <a:chExt cx="0" cy="0"/>
        </a:xfrm>
      </p:grpSpPr>
      <p:sp>
        <p:nvSpPr>
          <p:cNvPr id="245" name="Google Shape;245;g1f87997393_0_821:notes">
            <a:extLst>
              <a:ext uri="{FF2B5EF4-FFF2-40B4-BE49-F238E27FC236}">
                <a16:creationId xmlns:a16="http://schemas.microsoft.com/office/drawing/2014/main" id="{92E74CFF-EA23-B3C6-DA88-35B3390FB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f87997393_0_821:notes">
            <a:extLst>
              <a:ext uri="{FF2B5EF4-FFF2-40B4-BE49-F238E27FC236}">
                <a16:creationId xmlns:a16="http://schemas.microsoft.com/office/drawing/2014/main" id="{C4A2F4A4-9874-12C7-B84C-C048CBCA5A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1874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f87997393_0_8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f87997393_0_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41355920-085F-E78C-4CD3-51E2E0920A0C}"/>
            </a:ext>
          </a:extLst>
        </p:cNvPr>
        <p:cNvGrpSpPr/>
        <p:nvPr/>
      </p:nvGrpSpPr>
      <p:grpSpPr>
        <a:xfrm>
          <a:off x="0" y="0"/>
          <a:ext cx="0" cy="0"/>
          <a:chOff x="0" y="0"/>
          <a:chExt cx="0" cy="0"/>
        </a:xfrm>
      </p:grpSpPr>
      <p:sp>
        <p:nvSpPr>
          <p:cNvPr id="251" name="Google Shape;251;g1f87997393_0_835:notes">
            <a:extLst>
              <a:ext uri="{FF2B5EF4-FFF2-40B4-BE49-F238E27FC236}">
                <a16:creationId xmlns:a16="http://schemas.microsoft.com/office/drawing/2014/main" id="{7AD65749-8683-939A-B95C-6C93760857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f87997393_0_835:notes">
            <a:extLst>
              <a:ext uri="{FF2B5EF4-FFF2-40B4-BE49-F238E27FC236}">
                <a16:creationId xmlns:a16="http://schemas.microsoft.com/office/drawing/2014/main" id="{089948E1-112E-0AE9-3749-AEB6CA62CE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657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2380314C-A40F-DD17-09EF-96023EDFE956}"/>
            </a:ext>
          </a:extLst>
        </p:cNvPr>
        <p:cNvGrpSpPr/>
        <p:nvPr/>
      </p:nvGrpSpPr>
      <p:grpSpPr>
        <a:xfrm>
          <a:off x="0" y="0"/>
          <a:ext cx="0" cy="0"/>
          <a:chOff x="0" y="0"/>
          <a:chExt cx="0" cy="0"/>
        </a:xfrm>
      </p:grpSpPr>
      <p:sp>
        <p:nvSpPr>
          <p:cNvPr id="245" name="Google Shape;245;g1f87997393_0_821:notes">
            <a:extLst>
              <a:ext uri="{FF2B5EF4-FFF2-40B4-BE49-F238E27FC236}">
                <a16:creationId xmlns:a16="http://schemas.microsoft.com/office/drawing/2014/main" id="{CA858402-8F81-5C40-FE01-13EFC66C4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f87997393_0_821:notes">
            <a:extLst>
              <a:ext uri="{FF2B5EF4-FFF2-40B4-BE49-F238E27FC236}">
                <a16:creationId xmlns:a16="http://schemas.microsoft.com/office/drawing/2014/main" id="{DC7DA00E-273F-F5B7-349D-4907AB7308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9772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8" name="Google Shape;3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5">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4" name="Google Shape;74;p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5" name="Google Shape;7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2"/>
        <p:cNvGrpSpPr/>
        <p:nvPr/>
      </p:nvGrpSpPr>
      <p:grpSpPr>
        <a:xfrm>
          <a:off x="0" y="0"/>
          <a:ext cx="0" cy="0"/>
          <a:chOff x="0" y="0"/>
          <a:chExt cx="0" cy="0"/>
        </a:xfrm>
      </p:grpSpPr>
      <p:sp>
        <p:nvSpPr>
          <p:cNvPr id="103" name="Google Shape;103;p8">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8">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1" name="Google Shape;111;p8"/>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2" name="Google Shape;112;p8"/>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3" name="Google Shape;11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11">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11"/>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0" name="Google Shape;16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13"/>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78" name="Google Shape;17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79" name="Google Shape;179;p1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 name="Google Shape;203;p14"/>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5" name="Google Shape;20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206" name="Google Shape;206;p14">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4">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0"/>
        <p:cNvGrpSpPr/>
        <p:nvPr/>
      </p:nvGrpSpPr>
      <p:grpSpPr>
        <a:xfrm>
          <a:off x="0" y="0"/>
          <a:ext cx="0" cy="0"/>
          <a:chOff x="0" y="0"/>
          <a:chExt cx="0" cy="0"/>
        </a:xfrm>
      </p:grpSpPr>
      <p:sp>
        <p:nvSpPr>
          <p:cNvPr id="211" name="Google Shape;21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4" r:id="rId3"/>
    <p:sldLayoutId id="2147483657" r:id="rId4"/>
    <p:sldLayoutId id="2147483659" r:id="rId5"/>
    <p:sldLayoutId id="2147483660" r:id="rId6"/>
    <p:sldLayoutId id="2147483661"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6A038501-3970-446F-54C7-F5EB14C78787}"/>
            </a:ext>
          </a:extLst>
        </p:cNvPr>
        <p:cNvGrpSpPr/>
        <p:nvPr/>
      </p:nvGrpSpPr>
      <p:grpSpPr>
        <a:xfrm>
          <a:off x="0" y="0"/>
          <a:ext cx="0" cy="0"/>
          <a:chOff x="0" y="0"/>
          <a:chExt cx="0" cy="0"/>
        </a:xfrm>
      </p:grpSpPr>
      <p:sp>
        <p:nvSpPr>
          <p:cNvPr id="248" name="Google Shape;248;p19">
            <a:extLst>
              <a:ext uri="{FF2B5EF4-FFF2-40B4-BE49-F238E27FC236}">
                <a16:creationId xmlns:a16="http://schemas.microsoft.com/office/drawing/2014/main" id="{283FE04F-E6A2-8353-C4EC-7A37A99FC8C3}"/>
              </a:ext>
            </a:extLst>
          </p:cNvPr>
          <p:cNvSpPr txBox="1">
            <a:spLocks noGrp="1"/>
          </p:cNvSpPr>
          <p:nvPr>
            <p:ph type="title"/>
          </p:nvPr>
        </p:nvSpPr>
        <p:spPr>
          <a:xfrm>
            <a:off x="987552" y="548640"/>
            <a:ext cx="7348848" cy="1524000"/>
          </a:xfrm>
          <a:prstGeom prst="rect">
            <a:avLst/>
          </a:prstGeom>
        </p:spPr>
        <p:txBody>
          <a:bodyPr spcFirstLastPara="1" wrap="square" lIns="91425" tIns="91425" rIns="91425" bIns="91425" anchor="t" anchorCtr="0">
            <a:noAutofit/>
          </a:bodyPr>
          <a:lstStyle/>
          <a:p>
            <a:pPr lvl="0">
              <a:lnSpc>
                <a:spcPct val="115000"/>
              </a:lnSpc>
              <a:spcBef>
                <a:spcPts val="1800"/>
              </a:spcBef>
            </a:pPr>
            <a:r>
              <a:rPr lang="en-GB" sz="3200" b="1" dirty="0" err="1">
                <a:latin typeface="Lexend ExtraBold"/>
                <a:ea typeface="Lexend ExtraBold"/>
                <a:cs typeface="Lexend ExtraBold"/>
                <a:sym typeface="Lexend ExtraBold"/>
              </a:rPr>
              <a:t>ParkPal</a:t>
            </a:r>
            <a:br>
              <a:rPr lang="en-GB" dirty="0">
                <a:latin typeface="Lexend ExtraBold"/>
                <a:ea typeface="Lexend ExtraBold"/>
                <a:cs typeface="Lexend ExtraBold"/>
                <a:sym typeface="Lexend ExtraBold"/>
              </a:rPr>
            </a:br>
            <a:br>
              <a:rPr lang="en-GB" sz="1000" dirty="0">
                <a:latin typeface="Lato"/>
                <a:ea typeface="Lato"/>
                <a:cs typeface="Lato"/>
                <a:sym typeface="Lato"/>
              </a:rPr>
            </a:br>
            <a:r>
              <a:rPr lang="en-GB" b="1" dirty="0">
                <a:solidFill>
                  <a:srgbClr val="FF9900"/>
                </a:solidFill>
                <a:latin typeface="Oswald"/>
                <a:ea typeface="Oswald"/>
                <a:cs typeface="Oswald"/>
                <a:sym typeface="Oswald"/>
              </a:rPr>
              <a:t>UX Case Study</a:t>
            </a:r>
            <a:br>
              <a:rPr lang="en-GB" b="1" dirty="0">
                <a:solidFill>
                  <a:srgbClr val="FF9900"/>
                </a:solidFill>
                <a:latin typeface="Oswald"/>
                <a:ea typeface="Oswald"/>
                <a:cs typeface="Oswald"/>
                <a:sym typeface="Oswald"/>
              </a:rPr>
            </a:br>
            <a:br>
              <a:rPr lang="en-GB" sz="1600" dirty="0">
                <a:solidFill>
                  <a:srgbClr val="FF9900"/>
                </a:solidFill>
                <a:latin typeface="Lato"/>
                <a:ea typeface="Lato"/>
                <a:cs typeface="Lato"/>
                <a:sym typeface="Lato"/>
              </a:rPr>
            </a:br>
            <a:endParaRPr dirty="0"/>
          </a:p>
        </p:txBody>
      </p:sp>
      <p:sp>
        <p:nvSpPr>
          <p:cNvPr id="249" name="Google Shape;249;p19">
            <a:extLst>
              <a:ext uri="{FF2B5EF4-FFF2-40B4-BE49-F238E27FC236}">
                <a16:creationId xmlns:a16="http://schemas.microsoft.com/office/drawing/2014/main" id="{CF6F74D7-37F2-DF75-3F80-DE68494260BA}"/>
              </a:ext>
            </a:extLst>
          </p:cNvPr>
          <p:cNvSpPr txBox="1">
            <a:spLocks noGrp="1"/>
          </p:cNvSpPr>
          <p:nvPr>
            <p:ph type="body" idx="1"/>
          </p:nvPr>
        </p:nvSpPr>
        <p:spPr>
          <a:xfrm>
            <a:off x="292608" y="2170176"/>
            <a:ext cx="4645152" cy="2579574"/>
          </a:xfrm>
          <a:prstGeom prst="rect">
            <a:avLst/>
          </a:prstGeom>
        </p:spPr>
        <p:txBody>
          <a:bodyPr spcFirstLastPara="1" wrap="square" lIns="91425" tIns="91425" rIns="91425" bIns="91425" anchor="t" anchorCtr="0">
            <a:noAutofit/>
          </a:bodyPr>
          <a:lstStyle/>
          <a:p>
            <a:pPr marL="0" lvl="0" indent="0">
              <a:buNone/>
            </a:pPr>
            <a:r>
              <a:rPr lang="en-GB" sz="1400" dirty="0">
                <a:solidFill>
                  <a:srgbClr val="FF9900"/>
                </a:solidFill>
                <a:latin typeface="Roboto"/>
                <a:ea typeface="Roboto"/>
                <a:cs typeface="Roboto"/>
                <a:sym typeface="Roboto"/>
              </a:rPr>
              <a:t>Mentors: </a:t>
            </a:r>
          </a:p>
          <a:p>
            <a:pPr marL="0" lvl="0" indent="0">
              <a:buNone/>
            </a:pPr>
            <a:r>
              <a:rPr lang="en-GB" sz="1400" dirty="0">
                <a:solidFill>
                  <a:srgbClr val="FF9900"/>
                </a:solidFill>
                <a:latin typeface="Roboto"/>
                <a:ea typeface="Roboto"/>
                <a:cs typeface="Roboto"/>
                <a:sym typeface="Roboto"/>
              </a:rPr>
              <a:t>Researcher &amp; Designer: </a:t>
            </a:r>
          </a:p>
          <a:p>
            <a:pPr lvl="0" indent="-336550">
              <a:buSzPts val="1700"/>
              <a:buFont typeface="Roboto"/>
              <a:buChar char="●"/>
            </a:pPr>
            <a:r>
              <a:rPr lang="en-GB" sz="1400" dirty="0">
                <a:latin typeface="Roboto"/>
                <a:ea typeface="Roboto"/>
                <a:cs typeface="Roboto"/>
                <a:sym typeface="Roboto"/>
              </a:rPr>
              <a:t>Kirubakaran V (2023503546)</a:t>
            </a:r>
          </a:p>
          <a:p>
            <a:pPr lvl="0" indent="-336550">
              <a:buSzPts val="1700"/>
              <a:buFont typeface="Roboto"/>
              <a:buChar char="●"/>
            </a:pPr>
            <a:r>
              <a:rPr lang="en-GB" sz="1400" dirty="0" err="1">
                <a:latin typeface="Roboto"/>
                <a:ea typeface="Roboto"/>
                <a:cs typeface="Roboto"/>
                <a:sym typeface="Roboto"/>
              </a:rPr>
              <a:t>Perumall</a:t>
            </a:r>
            <a:r>
              <a:rPr lang="en-GB" sz="1400" dirty="0">
                <a:latin typeface="Roboto"/>
                <a:ea typeface="Roboto"/>
                <a:cs typeface="Roboto"/>
                <a:sym typeface="Roboto"/>
              </a:rPr>
              <a:t> rishi P (2023503551)</a:t>
            </a:r>
          </a:p>
          <a:p>
            <a:pPr lvl="0" indent="-336550">
              <a:buSzPts val="1700"/>
              <a:buFont typeface="Roboto"/>
              <a:buChar char="●"/>
            </a:pPr>
            <a:r>
              <a:rPr lang="en-GB" sz="1400" dirty="0">
                <a:latin typeface="Roboto"/>
                <a:ea typeface="Roboto"/>
                <a:cs typeface="Roboto"/>
                <a:sym typeface="Roboto"/>
              </a:rPr>
              <a:t>Sowmiya Narayanan (2023503582)</a:t>
            </a:r>
          </a:p>
          <a:p>
            <a:pPr lvl="0" indent="-336550">
              <a:buSzPts val="1700"/>
              <a:buFont typeface="Roboto"/>
              <a:buChar char="●"/>
            </a:pPr>
            <a:r>
              <a:rPr lang="en-GB" sz="1400" dirty="0" err="1">
                <a:latin typeface="Roboto"/>
                <a:ea typeface="Roboto"/>
                <a:cs typeface="Roboto"/>
                <a:sym typeface="Roboto"/>
              </a:rPr>
              <a:t>Dharanidharan</a:t>
            </a:r>
            <a:r>
              <a:rPr lang="en-GB" sz="1400" dirty="0">
                <a:latin typeface="Roboto"/>
                <a:ea typeface="Roboto"/>
                <a:cs typeface="Roboto"/>
                <a:sym typeface="Roboto"/>
              </a:rPr>
              <a:t> L (2023503508)</a:t>
            </a:r>
          </a:p>
          <a:p>
            <a:pPr lvl="0" indent="-336550">
              <a:buSzPts val="1700"/>
              <a:buFont typeface="Roboto"/>
              <a:buChar char="●"/>
            </a:pPr>
            <a:r>
              <a:rPr lang="en-GB" sz="1400" dirty="0" err="1">
                <a:latin typeface="Roboto"/>
                <a:ea typeface="Roboto"/>
                <a:cs typeface="Roboto"/>
                <a:sym typeface="Roboto"/>
              </a:rPr>
              <a:t>Sibichakaravarthi</a:t>
            </a:r>
            <a:r>
              <a:rPr lang="en-GB" sz="1400" dirty="0">
                <a:latin typeface="Roboto"/>
                <a:ea typeface="Roboto"/>
                <a:cs typeface="Roboto"/>
                <a:sym typeface="Roboto"/>
              </a:rPr>
              <a:t>  (2023503027)</a:t>
            </a:r>
          </a:p>
          <a:p>
            <a:pPr lvl="0" indent="-336550">
              <a:buSzPts val="1700"/>
              <a:buFont typeface="Roboto"/>
              <a:buChar char="●"/>
            </a:pPr>
            <a:r>
              <a:rPr lang="en-GB" sz="1400" dirty="0">
                <a:latin typeface="Roboto"/>
                <a:ea typeface="Roboto"/>
                <a:cs typeface="Roboto"/>
                <a:sym typeface="Roboto"/>
              </a:rPr>
              <a:t>Soorya Prakash R (2023503502)</a:t>
            </a:r>
          </a:p>
          <a:p>
            <a:pPr marL="0" lvl="0" indent="0">
              <a:buNone/>
            </a:pPr>
            <a:r>
              <a:rPr lang="en-GB" sz="1400" dirty="0">
                <a:solidFill>
                  <a:srgbClr val="FF9900"/>
                </a:solidFill>
                <a:latin typeface="Roboto"/>
                <a:ea typeface="Roboto"/>
                <a:cs typeface="Roboto"/>
                <a:sym typeface="Roboto"/>
              </a:rPr>
              <a:t>Duration: </a:t>
            </a:r>
            <a:endParaRPr lang="en-GB" sz="1400" dirty="0">
              <a:solidFill>
                <a:srgbClr val="FF9900"/>
              </a:solidFill>
            </a:endParaRPr>
          </a:p>
        </p:txBody>
      </p:sp>
      <p:pic>
        <p:nvPicPr>
          <p:cNvPr id="3" name="Picture 2" descr="A parking lot with cars and trees&#10;&#10;AI-generated content may be incorrect.">
            <a:extLst>
              <a:ext uri="{FF2B5EF4-FFF2-40B4-BE49-F238E27FC236}">
                <a16:creationId xmlns:a16="http://schemas.microsoft.com/office/drawing/2014/main" id="{6CF6E6E1-E6B2-59CD-E01D-49C4E43E63E0}"/>
              </a:ext>
            </a:extLst>
          </p:cNvPr>
          <p:cNvPicPr>
            <a:picLocks noChangeAspect="1"/>
          </p:cNvPicPr>
          <p:nvPr/>
        </p:nvPicPr>
        <p:blipFill>
          <a:blip r:embed="rId3"/>
          <a:stretch>
            <a:fillRect/>
          </a:stretch>
        </p:blipFill>
        <p:spPr>
          <a:xfrm>
            <a:off x="4572000" y="9144"/>
            <a:ext cx="4572000" cy="2579574"/>
          </a:xfrm>
          <a:prstGeom prst="rect">
            <a:avLst/>
          </a:prstGeom>
        </p:spPr>
      </p:pic>
      <p:pic>
        <p:nvPicPr>
          <p:cNvPr id="10" name="Picture 9" descr="A car charging at a charging station&#10;&#10;AI-generated content may be incorrect.">
            <a:extLst>
              <a:ext uri="{FF2B5EF4-FFF2-40B4-BE49-F238E27FC236}">
                <a16:creationId xmlns:a16="http://schemas.microsoft.com/office/drawing/2014/main" id="{001A74FE-BAA3-F944-2501-7D936AAE9AAB}"/>
              </a:ext>
            </a:extLst>
          </p:cNvPr>
          <p:cNvPicPr>
            <a:picLocks noChangeAspect="1"/>
          </p:cNvPicPr>
          <p:nvPr/>
        </p:nvPicPr>
        <p:blipFill>
          <a:blip r:embed="rId4"/>
          <a:stretch>
            <a:fillRect/>
          </a:stretch>
        </p:blipFill>
        <p:spPr>
          <a:xfrm>
            <a:off x="4572000" y="2588718"/>
            <a:ext cx="4579470" cy="2545638"/>
          </a:xfrm>
          <a:prstGeom prst="rect">
            <a:avLst/>
          </a:prstGeom>
        </p:spPr>
      </p:pic>
    </p:spTree>
    <p:extLst>
      <p:ext uri="{BB962C8B-B14F-4D97-AF65-F5344CB8AC3E}">
        <p14:creationId xmlns:p14="http://schemas.microsoft.com/office/powerpoint/2010/main" val="3218382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3B417F40-5955-7D69-7C9B-AA01BACD0183}"/>
            </a:ext>
          </a:extLst>
        </p:cNvPr>
        <p:cNvGrpSpPr/>
        <p:nvPr/>
      </p:nvGrpSpPr>
      <p:grpSpPr>
        <a:xfrm>
          <a:off x="0" y="0"/>
          <a:ext cx="0" cy="0"/>
          <a:chOff x="0" y="0"/>
          <a:chExt cx="0" cy="0"/>
        </a:xfrm>
      </p:grpSpPr>
      <p:sp>
        <p:nvSpPr>
          <p:cNvPr id="248" name="Google Shape;248;p19">
            <a:extLst>
              <a:ext uri="{FF2B5EF4-FFF2-40B4-BE49-F238E27FC236}">
                <a16:creationId xmlns:a16="http://schemas.microsoft.com/office/drawing/2014/main" id="{2AD5CEA4-33C0-1B93-F1D1-8C49FB03B0FF}"/>
              </a:ext>
            </a:extLst>
          </p:cNvPr>
          <p:cNvSpPr txBox="1">
            <a:spLocks noGrp="1"/>
          </p:cNvSpPr>
          <p:nvPr>
            <p:ph type="title"/>
          </p:nvPr>
        </p:nvSpPr>
        <p:spPr>
          <a:xfrm>
            <a:off x="1121664" y="664750"/>
            <a:ext cx="7214736" cy="9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4">
                    <a:lumMod val="75000"/>
                  </a:schemeClr>
                </a:solidFill>
              </a:rPr>
              <a:t>Features Roadmap</a:t>
            </a:r>
            <a:endParaRPr dirty="0">
              <a:solidFill>
                <a:schemeClr val="accent4">
                  <a:lumMod val="75000"/>
                </a:schemeClr>
              </a:solidFill>
            </a:endParaRPr>
          </a:p>
        </p:txBody>
      </p:sp>
      <p:sp>
        <p:nvSpPr>
          <p:cNvPr id="249" name="Google Shape;249;p19">
            <a:extLst>
              <a:ext uri="{FF2B5EF4-FFF2-40B4-BE49-F238E27FC236}">
                <a16:creationId xmlns:a16="http://schemas.microsoft.com/office/drawing/2014/main" id="{007F4EE1-0438-C6AC-07AC-CABB876ECEFA}"/>
              </a:ext>
            </a:extLst>
          </p:cNvPr>
          <p:cNvSpPr txBox="1">
            <a:spLocks noGrp="1"/>
          </p:cNvSpPr>
          <p:nvPr>
            <p:ph type="body" idx="1"/>
          </p:nvPr>
        </p:nvSpPr>
        <p:spPr>
          <a:xfrm>
            <a:off x="816864" y="1567550"/>
            <a:ext cx="5120640" cy="2911200"/>
          </a:xfrm>
          <a:prstGeom prst="rect">
            <a:avLst/>
          </a:prstGeom>
        </p:spPr>
        <p:txBody>
          <a:bodyPr spcFirstLastPara="1" wrap="square" lIns="91425" tIns="91425" rIns="91425" bIns="91425" anchor="t" anchorCtr="0">
            <a:noAutofit/>
          </a:bodyPr>
          <a:lstStyle/>
          <a:p>
            <a:r>
              <a:rPr lang="en-US" sz="1400" dirty="0"/>
              <a:t>A feature roadmap is important for the </a:t>
            </a:r>
            <a:r>
              <a:rPr lang="en-US" sz="1400" dirty="0" err="1"/>
              <a:t>ParkPal</a:t>
            </a:r>
            <a:r>
              <a:rPr lang="en-US" sz="1400" dirty="0"/>
              <a:t> project because it gives a clear direction for how the app will grow step by step. It helps us understand what features to build first and what to add later, making the whole development process easier and more organized. With a roadmap, the team can work smoothly, avoid confusion, and stay focused on the same goals. It also makes it simple to explain the project plan to others and show how </a:t>
            </a:r>
            <a:r>
              <a:rPr lang="en-US" sz="1400" dirty="0" err="1"/>
              <a:t>ParkPal</a:t>
            </a:r>
            <a:r>
              <a:rPr lang="en-US" sz="1400" dirty="0"/>
              <a:t> will improve from a basic parking app into a complete smart parking solution.</a:t>
            </a:r>
          </a:p>
        </p:txBody>
      </p:sp>
      <p:pic>
        <p:nvPicPr>
          <p:cNvPr id="8" name="Google Shape;234;p17">
            <a:extLst>
              <a:ext uri="{FF2B5EF4-FFF2-40B4-BE49-F238E27FC236}">
                <a16:creationId xmlns:a16="http://schemas.microsoft.com/office/drawing/2014/main" id="{C653AC12-9198-91AE-C5A4-1418767F67B1}"/>
              </a:ext>
            </a:extLst>
          </p:cNvPr>
          <p:cNvPicPr preferRelativeResize="0"/>
          <p:nvPr/>
        </p:nvPicPr>
        <p:blipFill rotWithShape="1">
          <a:blip r:embed="rId3">
            <a:alphaModFix/>
          </a:blip>
          <a:srcRect r="-5697"/>
          <a:stretch/>
        </p:blipFill>
        <p:spPr>
          <a:xfrm>
            <a:off x="6405321" y="1329831"/>
            <a:ext cx="2418000" cy="2483837"/>
          </a:xfrm>
          <a:prstGeom prst="ellipse">
            <a:avLst/>
          </a:prstGeom>
          <a:noFill/>
          <a:ln>
            <a:noFill/>
          </a:ln>
        </p:spPr>
      </p:pic>
    </p:spTree>
    <p:extLst>
      <p:ext uri="{BB962C8B-B14F-4D97-AF65-F5344CB8AC3E}">
        <p14:creationId xmlns:p14="http://schemas.microsoft.com/office/powerpoint/2010/main" val="3086692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4">
                    <a:lumMod val="75000"/>
                  </a:schemeClr>
                </a:solidFill>
              </a:rPr>
              <a:t>Phase 1 &amp; Phase 2 </a:t>
            </a:r>
            <a:endParaRPr dirty="0">
              <a:solidFill>
                <a:schemeClr val="accent4">
                  <a:lumMod val="75000"/>
                </a:schemeClr>
              </a:solidFill>
            </a:endParaRPr>
          </a:p>
        </p:txBody>
      </p:sp>
      <p:pic>
        <p:nvPicPr>
          <p:cNvPr id="8" name="Picture 7" descr="A screenshot of a computer&#10;&#10;AI-generated content may be incorrect.">
            <a:extLst>
              <a:ext uri="{FF2B5EF4-FFF2-40B4-BE49-F238E27FC236}">
                <a16:creationId xmlns:a16="http://schemas.microsoft.com/office/drawing/2014/main" id="{D5EE50BA-C014-A764-A944-F944B6E1BB0B}"/>
              </a:ext>
            </a:extLst>
          </p:cNvPr>
          <p:cNvPicPr>
            <a:picLocks noChangeAspect="1"/>
          </p:cNvPicPr>
          <p:nvPr/>
        </p:nvPicPr>
        <p:blipFill>
          <a:blip r:embed="rId3"/>
          <a:stretch>
            <a:fillRect/>
          </a:stretch>
        </p:blipFill>
        <p:spPr>
          <a:xfrm>
            <a:off x="1153659" y="945662"/>
            <a:ext cx="7038901" cy="39506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325D4094-8E83-7C98-1498-5A8BCF7834D7}"/>
            </a:ext>
          </a:extLst>
        </p:cNvPr>
        <p:cNvGrpSpPr/>
        <p:nvPr/>
      </p:nvGrpSpPr>
      <p:grpSpPr>
        <a:xfrm>
          <a:off x="0" y="0"/>
          <a:ext cx="0" cy="0"/>
          <a:chOff x="0" y="0"/>
          <a:chExt cx="0" cy="0"/>
        </a:xfrm>
      </p:grpSpPr>
      <p:sp>
        <p:nvSpPr>
          <p:cNvPr id="254" name="Google Shape;254;p20">
            <a:extLst>
              <a:ext uri="{FF2B5EF4-FFF2-40B4-BE49-F238E27FC236}">
                <a16:creationId xmlns:a16="http://schemas.microsoft.com/office/drawing/2014/main" id="{990EEF53-C692-5397-8AD2-2D7CCE89A455}"/>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4">
                    <a:lumMod val="75000"/>
                  </a:schemeClr>
                </a:solidFill>
              </a:rPr>
              <a:t>Phase 3 &amp; Phase 4 </a:t>
            </a:r>
            <a:endParaRPr dirty="0">
              <a:solidFill>
                <a:schemeClr val="accent4">
                  <a:lumMod val="75000"/>
                </a:schemeClr>
              </a:solidFill>
            </a:endParaRPr>
          </a:p>
        </p:txBody>
      </p:sp>
      <p:pic>
        <p:nvPicPr>
          <p:cNvPr id="2" name="Picture 1" descr="A screenshot of a computer&#10;&#10;AI-generated content may be incorrect.">
            <a:extLst>
              <a:ext uri="{FF2B5EF4-FFF2-40B4-BE49-F238E27FC236}">
                <a16:creationId xmlns:a16="http://schemas.microsoft.com/office/drawing/2014/main" id="{5BA7895E-515A-F9A9-F1C3-CB2ED28FDDB6}"/>
              </a:ext>
            </a:extLst>
          </p:cNvPr>
          <p:cNvPicPr>
            <a:picLocks noChangeAspect="1"/>
          </p:cNvPicPr>
          <p:nvPr/>
        </p:nvPicPr>
        <p:blipFill>
          <a:blip r:embed="rId3"/>
          <a:stretch>
            <a:fillRect/>
          </a:stretch>
        </p:blipFill>
        <p:spPr>
          <a:xfrm>
            <a:off x="1125884" y="1086338"/>
            <a:ext cx="7322548" cy="3801085"/>
          </a:xfrm>
          <a:prstGeom prst="rect">
            <a:avLst/>
          </a:prstGeom>
          <a:noFill/>
        </p:spPr>
      </p:pic>
    </p:spTree>
    <p:extLst>
      <p:ext uri="{BB962C8B-B14F-4D97-AF65-F5344CB8AC3E}">
        <p14:creationId xmlns:p14="http://schemas.microsoft.com/office/powerpoint/2010/main" val="120602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89DCB6C9-EEF7-35E7-A34A-DEAF0D734BFA}"/>
            </a:ext>
          </a:extLst>
        </p:cNvPr>
        <p:cNvGrpSpPr/>
        <p:nvPr/>
      </p:nvGrpSpPr>
      <p:grpSpPr>
        <a:xfrm>
          <a:off x="0" y="0"/>
          <a:ext cx="0" cy="0"/>
          <a:chOff x="0" y="0"/>
          <a:chExt cx="0" cy="0"/>
        </a:xfrm>
      </p:grpSpPr>
      <p:sp>
        <p:nvSpPr>
          <p:cNvPr id="248" name="Google Shape;248;p19">
            <a:extLst>
              <a:ext uri="{FF2B5EF4-FFF2-40B4-BE49-F238E27FC236}">
                <a16:creationId xmlns:a16="http://schemas.microsoft.com/office/drawing/2014/main" id="{F0668CDE-51B4-B500-0C41-B6C6DCAE1F0A}"/>
              </a:ext>
            </a:extLst>
          </p:cNvPr>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US" dirty="0">
                <a:solidFill>
                  <a:schemeClr val="accent4">
                    <a:lumMod val="75000"/>
                  </a:schemeClr>
                </a:solidFill>
              </a:rPr>
              <a:t>Platforms and Resolutions</a:t>
            </a:r>
          </a:p>
        </p:txBody>
      </p:sp>
      <p:sp>
        <p:nvSpPr>
          <p:cNvPr id="249" name="Google Shape;249;p19">
            <a:extLst>
              <a:ext uri="{FF2B5EF4-FFF2-40B4-BE49-F238E27FC236}">
                <a16:creationId xmlns:a16="http://schemas.microsoft.com/office/drawing/2014/main" id="{DBFD8444-A2C7-36DA-7261-5DFAE905F4FA}"/>
              </a:ext>
            </a:extLst>
          </p:cNvPr>
          <p:cNvSpPr txBox="1">
            <a:spLocks noGrp="1"/>
          </p:cNvSpPr>
          <p:nvPr>
            <p:ph type="body" idx="4294967295"/>
          </p:nvPr>
        </p:nvSpPr>
        <p:spPr>
          <a:xfrm>
            <a:off x="311700" y="1208225"/>
            <a:ext cx="4069800" cy="3264408"/>
          </a:xfrm>
        </p:spPr>
        <p:txBody>
          <a:bodyPr spcFirstLastPara="1" lIns="91425" tIns="91425" rIns="91425" bIns="91425" anchor="t" anchorCtr="0">
            <a:noAutofit/>
          </a:bodyPr>
          <a:lstStyle/>
          <a:p>
            <a:pPr>
              <a:lnSpc>
                <a:spcPct val="105000"/>
              </a:lnSpc>
              <a:spcAft>
                <a:spcPts val="600"/>
              </a:spcAft>
              <a:buClr>
                <a:srgbClr val="000000"/>
              </a:buClr>
              <a:buFont typeface="Arial"/>
            </a:pPr>
            <a:r>
              <a:rPr lang="en-US" sz="1200" b="0" i="0" u="none" strike="noStrike" cap="none" dirty="0"/>
              <a:t>For </a:t>
            </a:r>
            <a:r>
              <a:rPr lang="en-US" sz="1200" b="0" i="0" u="none" strike="noStrike" cap="none" dirty="0" err="1"/>
              <a:t>ParkPal</a:t>
            </a:r>
            <a:r>
              <a:rPr lang="en-US" sz="1200" b="0" i="0" u="none" strike="noStrike" cap="none" dirty="0"/>
              <a:t>, I chose a cross-platform design so the app can run smoothly on all major devices. Since parking information must be accessible anywhere, supporting multiple screen sizes is essential. I also included four modes—Dark Mode, Light Mode, Dark Accessibility Mode, and Light Accessibility Mode—to ensure that users with visual difficulties, including color blindness, can use the app comfortably.</a:t>
            </a:r>
          </a:p>
          <a:p>
            <a:pPr>
              <a:lnSpc>
                <a:spcPct val="105000"/>
              </a:lnSpc>
              <a:spcAft>
                <a:spcPts val="600"/>
              </a:spcAft>
              <a:buClr>
                <a:srgbClr val="000000"/>
              </a:buClr>
              <a:buFont typeface="Arial"/>
            </a:pPr>
            <a:r>
              <a:rPr lang="en-US" sz="1200" b="0" i="0" u="none" strike="noStrike" cap="none" dirty="0"/>
              <a:t> The resolutions I designed for are (pixels):</a:t>
            </a:r>
          </a:p>
          <a:p>
            <a:pPr>
              <a:lnSpc>
                <a:spcPct val="105000"/>
              </a:lnSpc>
              <a:spcAft>
                <a:spcPts val="600"/>
              </a:spcAft>
              <a:buClr>
                <a:srgbClr val="000000"/>
              </a:buClr>
              <a:buFont typeface="Arial"/>
            </a:pPr>
            <a:r>
              <a:rPr lang="en-US" sz="1200" b="0" i="0" u="none" strike="noStrike" cap="none" dirty="0"/>
              <a:t>Mobile : 0 ~ 559</a:t>
            </a:r>
            <a:br>
              <a:rPr lang="en-US" sz="1200" b="0" i="0" u="none" strike="noStrike" cap="none" dirty="0"/>
            </a:br>
            <a:r>
              <a:rPr lang="en-US" sz="1200" b="0" i="0" u="none" strike="noStrike" cap="none" dirty="0"/>
              <a:t>Phablet : 560 ~ 769</a:t>
            </a:r>
            <a:br>
              <a:rPr lang="en-US" sz="1200" b="0" i="0" u="none" strike="noStrike" cap="none" dirty="0"/>
            </a:br>
            <a:r>
              <a:rPr lang="en-US" sz="1200" b="0" i="0" u="none" strike="noStrike" cap="none" dirty="0"/>
              <a:t>Tablet : 770 ~ 991</a:t>
            </a:r>
            <a:br>
              <a:rPr lang="en-US" sz="1200" b="0" i="0" u="none" strike="noStrike" cap="none" dirty="0"/>
            </a:br>
            <a:r>
              <a:rPr lang="en-US" sz="1200" b="0" i="0" u="none" strike="noStrike" cap="none" dirty="0"/>
              <a:t>Desktop Small : 992 ~ 1439</a:t>
            </a:r>
            <a:br>
              <a:rPr lang="en-US" sz="1200" b="0" i="0" u="none" strike="noStrike" cap="none" dirty="0"/>
            </a:br>
            <a:r>
              <a:rPr lang="en-US" sz="1200" b="0" i="0" u="none" strike="noStrike" cap="none" dirty="0"/>
              <a:t>Desktop Large : 1440 ~ 2559</a:t>
            </a:r>
            <a:br>
              <a:rPr lang="en-US" sz="1200" b="0" i="0" u="none" strike="noStrike" cap="none" dirty="0"/>
            </a:br>
            <a:r>
              <a:rPr lang="en-US" sz="1200" b="0" i="0" u="none" strike="noStrike" cap="none" dirty="0"/>
              <a:t>4K Display : 2560 and above</a:t>
            </a:r>
          </a:p>
        </p:txBody>
      </p:sp>
      <p:pic>
        <p:nvPicPr>
          <p:cNvPr id="1028" name="Picture 4" descr="UI/UX Case Study: My Car Parking :: Behance">
            <a:extLst>
              <a:ext uri="{FF2B5EF4-FFF2-40B4-BE49-F238E27FC236}">
                <a16:creationId xmlns:a16="http://schemas.microsoft.com/office/drawing/2014/main" id="{733895C6-24B9-D1CB-604D-0890FBA46A5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2500" y="1314254"/>
            <a:ext cx="4069800" cy="3052350"/>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008686"/>
      </p:ext>
    </p:extLst>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Words>
  <Application>Microsoft Office PowerPoint</Application>
  <PresentationFormat>On-screen Show (16:9)</PresentationFormat>
  <Paragraphs>18</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Roboto</vt:lpstr>
      <vt:lpstr>Arial</vt:lpstr>
      <vt:lpstr>Lexend ExtraBold</vt:lpstr>
      <vt:lpstr>Oswald</vt:lpstr>
      <vt:lpstr>Montserrat</vt:lpstr>
      <vt:lpstr>Lato</vt:lpstr>
      <vt:lpstr>Focus</vt:lpstr>
      <vt:lpstr>ParkPal  UX Case Study  </vt:lpstr>
      <vt:lpstr>Features Roadmap</vt:lpstr>
      <vt:lpstr>Phase 1 &amp; Phase 2 </vt:lpstr>
      <vt:lpstr>Phase 3 &amp; Phase 4 </vt:lpstr>
      <vt:lpstr>Platforms and Resolutions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DHARANIDHARAN  L</cp:lastModifiedBy>
  <cp:revision>1</cp:revision>
  <dcterms:modified xsi:type="dcterms:W3CDTF">2025-11-15T04:52:19Z</dcterms:modified>
</cp:coreProperties>
</file>